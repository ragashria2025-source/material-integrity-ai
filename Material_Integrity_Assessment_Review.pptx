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ashri A" userId="361f5963b1c96887" providerId="LiveId" clId="{15C98A18-A49C-4B92-8F64-E7CC6B3857F7}"/>
    <pc:docChg chg="undo custSel modSld">
      <pc:chgData name="Ragashri A" userId="361f5963b1c96887" providerId="LiveId" clId="{15C98A18-A49C-4B92-8F64-E7CC6B3857F7}" dt="2026-09-23T06:26:36.046" v="197" actId="20577"/>
      <pc:docMkLst>
        <pc:docMk/>
      </pc:docMkLst>
      <pc:sldChg chg="modSp mod">
        <pc:chgData name="Ragashri A" userId="361f5963b1c96887" providerId="LiveId" clId="{15C98A18-A49C-4B92-8F64-E7CC6B3857F7}" dt="2026-09-23T06:26:36.046" v="197" actId="20577"/>
        <pc:sldMkLst>
          <pc:docMk/>
          <pc:sldMk cId="0" sldId="256"/>
        </pc:sldMkLst>
        <pc:spChg chg="mod">
          <ac:chgData name="Ragashri A" userId="361f5963b1c96887" providerId="LiveId" clId="{15C98A18-A49C-4B92-8F64-E7CC6B3857F7}" dt="2026-09-23T06:24:39.938" v="72" actId="20577"/>
          <ac:spMkLst>
            <pc:docMk/>
            <pc:sldMk cId="0" sldId="256"/>
            <ac:spMk id="32" creationId="{00000000-0000-0000-0000-000000000000}"/>
          </ac:spMkLst>
        </pc:spChg>
        <pc:spChg chg="mod">
          <ac:chgData name="Ragashri A" userId="361f5963b1c96887" providerId="LiveId" clId="{15C98A18-A49C-4B92-8F64-E7CC6B3857F7}" dt="2026-09-23T06:24:33.742" v="66" actId="20577"/>
          <ac:spMkLst>
            <pc:docMk/>
            <pc:sldMk cId="0" sldId="256"/>
            <ac:spMk id="33" creationId="{00000000-0000-0000-0000-000000000000}"/>
          </ac:spMkLst>
        </pc:spChg>
        <pc:spChg chg="mod">
          <ac:chgData name="Ragashri A" userId="361f5963b1c96887" providerId="LiveId" clId="{15C98A18-A49C-4B92-8F64-E7CC6B3857F7}" dt="2026-09-23T06:25:19.990" v="155" actId="20577"/>
          <ac:spMkLst>
            <pc:docMk/>
            <pc:sldMk cId="0" sldId="256"/>
            <ac:spMk id="35" creationId="{00000000-0000-0000-0000-000000000000}"/>
          </ac:spMkLst>
        </pc:spChg>
        <pc:spChg chg="mod">
          <ac:chgData name="Ragashri A" userId="361f5963b1c96887" providerId="LiveId" clId="{15C98A18-A49C-4B92-8F64-E7CC6B3857F7}" dt="2026-09-23T06:25:34.677" v="157" actId="20577"/>
          <ac:spMkLst>
            <pc:docMk/>
            <pc:sldMk cId="0" sldId="256"/>
            <ac:spMk id="37" creationId="{00000000-0000-0000-0000-000000000000}"/>
          </ac:spMkLst>
        </pc:spChg>
        <pc:spChg chg="mod">
          <ac:chgData name="Ragashri A" userId="361f5963b1c96887" providerId="LiveId" clId="{15C98A18-A49C-4B92-8F64-E7CC6B3857F7}" dt="2026-09-23T06:26:36.046" v="197" actId="20577"/>
          <ac:spMkLst>
            <pc:docMk/>
            <pc:sldMk cId="0" sldId="256"/>
            <ac:spMk id="39" creationId="{00000000-0000-0000-0000-000000000000}"/>
          </ac:spMkLst>
        </pc:spChg>
      </pc:sldChg>
      <pc:sldChg chg="addSp delSp modSp mod">
        <pc:chgData name="Ragashri A" userId="361f5963b1c96887" providerId="LiveId" clId="{15C98A18-A49C-4B92-8F64-E7CC6B3857F7}" dt="2026-09-23T06:26:32.197" v="195" actId="22"/>
        <pc:sldMkLst>
          <pc:docMk/>
          <pc:sldMk cId="0" sldId="258"/>
        </pc:sldMkLst>
        <pc:spChg chg="add del mod">
          <ac:chgData name="Ragashri A" userId="361f5963b1c96887" providerId="LiveId" clId="{15C98A18-A49C-4B92-8F64-E7CC6B3857F7}" dt="2026-09-23T06:26:32.197" v="195" actId="22"/>
          <ac:spMkLst>
            <pc:docMk/>
            <pc:sldMk cId="0" sldId="258"/>
            <ac:spMk id="54" creationId="{B5869C41-2051-6C69-3CED-12065AACC4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434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607040" y="5133429"/>
            <a:ext cx="733263" cy="261531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607040" y="5222793"/>
            <a:ext cx="1256311" cy="172167"/>
          </a:xfrm>
          <a:prstGeom prst="line">
            <a:avLst/>
          </a:prstGeom>
          <a:noFill/>
          <a:ln w="13970">
            <a:solidFill>
              <a:srgbClr val="0EA5E9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394960"/>
            <a:ext cx="1731149" cy="102741"/>
          </a:xfrm>
          <a:prstGeom prst="line">
            <a:avLst/>
          </a:prstGeom>
          <a:noFill/>
          <a:ln w="1397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5394960"/>
            <a:ext cx="769481" cy="204278"/>
          </a:xfrm>
          <a:prstGeom prst="line">
            <a:avLst/>
          </a:prstGeom>
          <a:noFill/>
          <a:ln w="13970">
            <a:solidFill>
              <a:srgbClr val="0EA5E9">
                <a:alpha val="4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5394960"/>
            <a:ext cx="1026504" cy="535443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5394960"/>
            <a:ext cx="1054860" cy="966327"/>
          </a:xfrm>
          <a:prstGeom prst="line">
            <a:avLst/>
          </a:prstGeom>
          <a:noFill/>
          <a:ln w="13970">
            <a:solidFill>
              <a:srgbClr val="0EA5E9">
                <a:alpha val="6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0" y="5394960"/>
            <a:ext cx="301102" cy="536129"/>
          </a:xfrm>
          <a:prstGeom prst="line">
            <a:avLst/>
          </a:prstGeom>
          <a:noFill/>
          <a:ln w="1397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5394960"/>
            <a:ext cx="123553" cy="891929"/>
          </a:xfrm>
          <a:prstGeom prst="line">
            <a:avLst/>
          </a:prstGeom>
          <a:noFill/>
          <a:ln w="13970">
            <a:solidFill>
              <a:srgbClr val="0EA5E9">
                <a:alpha val="4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293872" y="5394960"/>
            <a:ext cx="313168" cy="1196231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0242311" y="5394960"/>
            <a:ext cx="364729" cy="516406"/>
          </a:xfrm>
          <a:prstGeom prst="line">
            <a:avLst/>
          </a:prstGeom>
          <a:noFill/>
          <a:ln w="13970">
            <a:solidFill>
              <a:srgbClr val="0EA5E9">
                <a:alpha val="6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9746621" y="5394960"/>
            <a:ext cx="860419" cy="663521"/>
          </a:xfrm>
          <a:prstGeom prst="line">
            <a:avLst/>
          </a:prstGeom>
          <a:noFill/>
          <a:ln w="13970">
            <a:solidFill>
              <a:srgbClr val="22D3EE">
                <a:alpha val="5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9131208" y="5394960"/>
            <a:ext cx="1475832" cy="641691"/>
          </a:xfrm>
          <a:prstGeom prst="line">
            <a:avLst/>
          </a:prstGeom>
          <a:noFill/>
          <a:ln w="13970">
            <a:solidFill>
              <a:srgbClr val="0EA5E9">
                <a:alpha val="4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9815656" y="5394960"/>
            <a:ext cx="791384" cy="158043"/>
          </a:xfrm>
          <a:prstGeom prst="line">
            <a:avLst/>
          </a:prstGeom>
          <a:noFill/>
          <a:ln w="13970">
            <a:solidFill>
              <a:srgbClr val="22D3EE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9326880" y="5394960"/>
            <a:ext cx="1280160" cy="0"/>
          </a:xfrm>
          <a:prstGeom prst="line">
            <a:avLst/>
          </a:prstGeom>
          <a:noFill/>
          <a:ln w="13970">
            <a:solidFill>
              <a:srgbClr val="0EA5E9">
                <a:alpha val="6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24744" y="531266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05872" y="5193792"/>
            <a:ext cx="402336" cy="402336"/>
          </a:xfrm>
          <a:prstGeom prst="ellipse">
            <a:avLst/>
          </a:prstGeom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051560"/>
            <a:ext cx="4023360" cy="0"/>
          </a:xfrm>
          <a:prstGeom prst="line">
            <a:avLst/>
          </a:prstGeom>
          <a:noFill/>
          <a:ln w="12700">
            <a:solidFill>
              <a:srgbClr val="2230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1005840"/>
            <a:ext cx="91440" cy="91440"/>
          </a:xfrm>
          <a:prstGeom prst="ellipse">
            <a:avLst/>
          </a:prstGeom>
          <a:solidFill>
            <a:srgbClr val="22D3EE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1005840"/>
            <a:ext cx="91440" cy="91440"/>
          </a:xfrm>
          <a:prstGeom prst="ellipse">
            <a:avLst/>
          </a:prstGeom>
          <a:solidFill>
            <a:srgbClr val="141C24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7320" y="1005840"/>
            <a:ext cx="91440" cy="91440"/>
          </a:xfrm>
          <a:prstGeom prst="ellipse">
            <a:avLst/>
          </a:prstGeom>
          <a:solidFill>
            <a:srgbClr val="141C24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74520" y="1005840"/>
            <a:ext cx="91440" cy="91440"/>
          </a:xfrm>
          <a:prstGeom prst="ellipse">
            <a:avLst/>
          </a:prstGeom>
          <a:solidFill>
            <a:srgbClr val="22D3EE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1005840"/>
            <a:ext cx="91440" cy="91440"/>
          </a:xfrm>
          <a:prstGeom prst="ellipse">
            <a:avLst/>
          </a:prstGeom>
          <a:solidFill>
            <a:srgbClr val="141C24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1005840"/>
            <a:ext cx="91440" cy="91440"/>
          </a:xfrm>
          <a:prstGeom prst="ellipse">
            <a:avLst/>
          </a:prstGeom>
          <a:solidFill>
            <a:srgbClr val="141C24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1005840"/>
            <a:ext cx="91440" cy="91440"/>
          </a:xfrm>
          <a:prstGeom prst="ellipse">
            <a:avLst/>
          </a:prstGeom>
          <a:solidFill>
            <a:srgbClr val="22D3EE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03320" y="1005840"/>
            <a:ext cx="91440" cy="91440"/>
          </a:xfrm>
          <a:prstGeom prst="ellipse">
            <a:avLst/>
          </a:prstGeom>
          <a:solidFill>
            <a:srgbClr val="141C24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0520" y="1005840"/>
            <a:ext cx="91440" cy="91440"/>
          </a:xfrm>
          <a:prstGeom prst="ellipse">
            <a:avLst/>
          </a:prstGeom>
          <a:solidFill>
            <a:srgbClr val="141C24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ENGINEERING PROJECT REVIEW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011680"/>
            <a:ext cx="9509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Assistant for Material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Integrity Assessment</a:t>
            </a:r>
            <a:endParaRPr lang="en-US" sz="4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7947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 ·  Root Cause Analysis  ·  Failure Prediction  ·  Engineering Recommendations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4617720"/>
            <a:ext cx="5852160" cy="0"/>
          </a:xfrm>
          <a:prstGeom prst="line">
            <a:avLst/>
          </a:prstGeom>
          <a:noFill/>
          <a:ln w="12700">
            <a:solidFill>
              <a:srgbClr val="22303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4846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2880360" y="48463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of Materials Project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2303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2880360" y="52303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Ragashri, Anjana, Sreya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56144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2880360" y="56144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 — EV Specialization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59984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&amp; YEAR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880360" y="599846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Chennai · 2025-29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093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weld integrity needs more than visual inspection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 integrity directly affects the structural reliability and safety of a component.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 defects — cracks, undercut, lack of fusion — can reduce load-carrying performance.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inspection can be time-consuming and depends heavily on inspector experience.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 defect is only one part of the problem.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also need to understand possible causes and the appropriate next action — not just a defect label.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2468880"/>
            <a:ext cx="1108710" cy="1005840"/>
          </a:xfrm>
          <a:prstGeom prst="roundRect">
            <a:avLst>
              <a:gd name="adj" fmla="val 727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36208" y="2542032"/>
            <a:ext cx="8892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468880"/>
            <a:ext cx="1108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71766" y="2971800"/>
            <a:ext cx="246888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555230" y="2468880"/>
            <a:ext cx="1108710" cy="1005840"/>
          </a:xfrm>
          <a:prstGeom prst="roundRect">
            <a:avLst>
              <a:gd name="adj" fmla="val 727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64958" y="2542032"/>
            <a:ext cx="8892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555230" y="2468880"/>
            <a:ext cx="1108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00516" y="2971800"/>
            <a:ext cx="246888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83980" y="2468880"/>
            <a:ext cx="1108710" cy="1005840"/>
          </a:xfrm>
          <a:prstGeom prst="roundRect">
            <a:avLst>
              <a:gd name="adj" fmla="val 727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3708" y="2542032"/>
            <a:ext cx="8892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983980" y="2468880"/>
            <a:ext cx="1108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129266" y="2971800"/>
            <a:ext cx="246888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412730" y="2468880"/>
            <a:ext cx="1108710" cy="1005840"/>
          </a:xfrm>
          <a:prstGeom prst="roundRect">
            <a:avLst>
              <a:gd name="adj" fmla="val 7273"/>
            </a:avLst>
          </a:prstGeom>
          <a:solidFill>
            <a:srgbClr val="141C2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22458" y="2542032"/>
            <a:ext cx="8892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412730" y="2468880"/>
            <a:ext cx="11087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39319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4096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gap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434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 label alone does not tell an engineer why it occurred or what to do next. Bridging detection with engineering interpretation is the core problem this project addresses.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MATERIAL INTEGRITY ASSESSMENT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562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EXISTING GAP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093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manual interpretation to assisted engineering decisions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WORKFLOW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446020" cy="914400"/>
          </a:xfrm>
          <a:prstGeom prst="roundRect">
            <a:avLst>
              <a:gd name="adj" fmla="val 8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947672"/>
            <a:ext cx="222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24460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30652" y="2331720"/>
            <a:ext cx="219456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77540" y="1874520"/>
            <a:ext cx="2446020" cy="914400"/>
          </a:xfrm>
          <a:prstGeom prst="roundRect">
            <a:avLst>
              <a:gd name="adj" fmla="val 8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87268" y="1947672"/>
            <a:ext cx="222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177540" y="1874520"/>
            <a:ext cx="24460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50992" y="2331720"/>
            <a:ext cx="219456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97880" y="1874520"/>
            <a:ext cx="2446020" cy="914400"/>
          </a:xfrm>
          <a:prstGeom prst="roundRect">
            <a:avLst>
              <a:gd name="adj" fmla="val 8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07608" y="1947672"/>
            <a:ext cx="222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1874520"/>
            <a:ext cx="24460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71332" y="2331720"/>
            <a:ext cx="219456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18220" y="1874520"/>
            <a:ext cx="2446020" cy="914400"/>
          </a:xfrm>
          <a:prstGeom prst="roundRect">
            <a:avLst>
              <a:gd name="adj" fmla="val 8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27948" y="1947672"/>
            <a:ext cx="22265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618220" y="1874520"/>
            <a:ext cx="24460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246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WORKFLOW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1497003" cy="960120"/>
          </a:xfrm>
          <a:prstGeom prst="roundRect">
            <a:avLst>
              <a:gd name="adj" fmla="val 7619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3685032"/>
            <a:ext cx="12775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611880"/>
            <a:ext cx="149700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72491" y="4087368"/>
            <a:ext cx="91440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082219" y="3611880"/>
            <a:ext cx="1497003" cy="960120"/>
          </a:xfrm>
          <a:prstGeom prst="roundRect">
            <a:avLst>
              <a:gd name="adj" fmla="val 7619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91947" y="3685032"/>
            <a:ext cx="12775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2082219" y="3611880"/>
            <a:ext cx="149700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97511" y="4087368"/>
            <a:ext cx="91440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707239" y="3611880"/>
            <a:ext cx="1497003" cy="960120"/>
          </a:xfrm>
          <a:prstGeom prst="roundRect">
            <a:avLst>
              <a:gd name="adj" fmla="val 7619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16967" y="3685032"/>
            <a:ext cx="12775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707239" y="3611880"/>
            <a:ext cx="149700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22530" y="4087368"/>
            <a:ext cx="91440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332258" y="3611880"/>
            <a:ext cx="1497003" cy="960120"/>
          </a:xfrm>
          <a:prstGeom prst="roundRect">
            <a:avLst>
              <a:gd name="adj" fmla="val 7619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41986" y="3685032"/>
            <a:ext cx="12775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332258" y="3611880"/>
            <a:ext cx="149700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47550" y="4087368"/>
            <a:ext cx="91440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957278" y="3611880"/>
            <a:ext cx="1497003" cy="960120"/>
          </a:xfrm>
          <a:prstGeom prst="roundRect">
            <a:avLst>
              <a:gd name="adj" fmla="val 7619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67006" y="3685032"/>
            <a:ext cx="12775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957278" y="3611880"/>
            <a:ext cx="149700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472569" y="4087368"/>
            <a:ext cx="91440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582297" y="3611880"/>
            <a:ext cx="1497003" cy="960120"/>
          </a:xfrm>
          <a:prstGeom prst="roundRect">
            <a:avLst>
              <a:gd name="adj" fmla="val 7619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92025" y="3685032"/>
            <a:ext cx="12775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8582297" y="3611880"/>
            <a:ext cx="149700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097589" y="4087368"/>
            <a:ext cx="91440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207317" y="3611880"/>
            <a:ext cx="1497003" cy="960120"/>
          </a:xfrm>
          <a:prstGeom prst="roundRect">
            <a:avLst>
              <a:gd name="adj" fmla="val 7619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317045" y="3685032"/>
            <a:ext cx="12775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10207317" y="3611880"/>
            <a:ext cx="149700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50749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41C2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77240" y="50749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intended as engineering decision support — it does not replace engineering judgment, certified inspection, or NDT verification.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MATERIAL INTEGRITY ASSESSMENT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11521440" y="65562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093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system is designed to achieve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535680" cy="2103120"/>
          </a:xfrm>
          <a:prstGeom prst="roundRect">
            <a:avLst>
              <a:gd name="adj" fmla="val 347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56232"/>
            <a:ext cx="502920" cy="502920"/>
          </a:xfrm>
          <a:prstGeom prst="ellipse">
            <a:avLst/>
          </a:prstGeom>
          <a:solidFill>
            <a:srgbClr val="141C24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96312"/>
            <a:ext cx="307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visible weld defects using computer vision.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600200"/>
            <a:ext cx="3535680" cy="2103120"/>
          </a:xfrm>
          <a:prstGeom prst="roundRect">
            <a:avLst>
              <a:gd name="adj" fmla="val 347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1520" y="1856232"/>
            <a:ext cx="502920" cy="502920"/>
          </a:xfrm>
          <a:prstGeom prst="ellipse">
            <a:avLst/>
          </a:prstGeom>
          <a:solidFill>
            <a:srgbClr val="141C24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152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496312"/>
            <a:ext cx="307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defects using bounding boxes.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68640" y="1600200"/>
            <a:ext cx="3535680" cy="2103120"/>
          </a:xfrm>
          <a:prstGeom prst="roundRect">
            <a:avLst>
              <a:gd name="adj" fmla="val 347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97240" y="1856232"/>
            <a:ext cx="502920" cy="502920"/>
          </a:xfrm>
          <a:prstGeom prst="ellipse">
            <a:avLst/>
          </a:prstGeom>
          <a:solidFill>
            <a:srgbClr val="141C24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724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97240" y="2496312"/>
            <a:ext cx="307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AI confidence for each detection.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3535680" cy="2103120"/>
          </a:xfrm>
          <a:prstGeom prst="roundRect">
            <a:avLst>
              <a:gd name="adj" fmla="val 347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325112"/>
            <a:ext cx="502920" cy="502920"/>
          </a:xfrm>
          <a:prstGeom prst="ellipse">
            <a:avLst/>
          </a:prstGeom>
          <a:solidFill>
            <a:srgbClr val="141C24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965192"/>
            <a:ext cx="307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defect detection with engineering knowledge.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4069080"/>
            <a:ext cx="3535680" cy="2103120"/>
          </a:xfrm>
          <a:prstGeom prst="roundRect">
            <a:avLst>
              <a:gd name="adj" fmla="val 347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41520" y="4325112"/>
            <a:ext cx="502920" cy="502920"/>
          </a:xfrm>
          <a:prstGeom prst="ellipse">
            <a:avLst/>
          </a:prstGeom>
          <a:solidFill>
            <a:srgbClr val="141C24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4152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541520" y="4965192"/>
            <a:ext cx="307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possible root-cause factors and recommendations.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68640" y="4069080"/>
            <a:ext cx="3535680" cy="2103120"/>
          </a:xfrm>
          <a:prstGeom prst="roundRect">
            <a:avLst>
              <a:gd name="adj" fmla="val 347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97240" y="4325112"/>
            <a:ext cx="502920" cy="502920"/>
          </a:xfrm>
          <a:prstGeom prst="ellipse">
            <a:avLst/>
          </a:prstGeom>
          <a:solidFill>
            <a:srgbClr val="141C24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9724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397240" y="4965192"/>
            <a:ext cx="307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future process-parameter prediction module.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MATERIAL INTEGRITY ASSESSMENT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562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093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End-to-end data flow across both operating modes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3716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62472" y="1737360"/>
            <a:ext cx="0" cy="201168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80560" y="1938528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938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 →  CHOOSE MODE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62472" y="2304288"/>
            <a:ext cx="0" cy="146304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63240" y="2450592"/>
            <a:ext cx="598932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2450592"/>
            <a:ext cx="0" cy="219456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52560" y="2450592"/>
            <a:ext cx="0" cy="219456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57200" y="27432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POST-WELD INSPECTION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108960"/>
            <a:ext cx="5175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Weld Image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3419856"/>
            <a:ext cx="0" cy="73152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3511296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3584448"/>
            <a:ext cx="5175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Vision 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3895344"/>
            <a:ext cx="0" cy="73152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3986784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4059936"/>
            <a:ext cx="5175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+ Bounding Box + Confidence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54680" y="4370832"/>
            <a:ext cx="0" cy="73152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4462272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4535424"/>
            <a:ext cx="5175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Knowledge Layer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4846320"/>
            <a:ext cx="0" cy="73152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" y="4937760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5010912"/>
            <a:ext cx="5175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+ Causes + Recommendations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27432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IN-PROCESS PREDICTION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3035808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9088" y="3108960"/>
            <a:ext cx="5175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 Process Parameters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06840" y="3419856"/>
            <a:ext cx="0" cy="73152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309360" y="3511296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19088" y="3584448"/>
            <a:ext cx="5175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Model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06840" y="3895344"/>
            <a:ext cx="0" cy="73152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309360" y="3986784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19088" y="4059936"/>
            <a:ext cx="5175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/ Risk Prediction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06840" y="4370832"/>
            <a:ext cx="0" cy="73152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309360" y="4462272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19088" y="4535424"/>
            <a:ext cx="5175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Recommendation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154680" y="5321808"/>
            <a:ext cx="0" cy="164592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006840" y="4846320"/>
            <a:ext cx="0" cy="64008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154680" y="5486400"/>
            <a:ext cx="585216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5486400"/>
            <a:ext cx="0" cy="18288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566160" y="566928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566160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 /  MANUAL INSPECTION  /  NDT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MATERIAL INTEGRITY ASSESSMENT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11521440" y="65562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POST-WELD AI INSPECTION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093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Current implementation — image-based defect detection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WORKFLOW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901952"/>
            <a:ext cx="508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08960" y="2286000"/>
            <a:ext cx="0" cy="128016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414016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487168"/>
            <a:ext cx="508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0" y="2871216"/>
            <a:ext cx="0" cy="128016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999232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072384"/>
            <a:ext cx="508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Inference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08960" y="3456432"/>
            <a:ext cx="0" cy="128016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584448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657600"/>
            <a:ext cx="508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08960" y="4041648"/>
            <a:ext cx="0" cy="128016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169664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4242816"/>
            <a:ext cx="508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Filtering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08960" y="4626864"/>
            <a:ext cx="0" cy="128016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4754880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4828032"/>
            <a:ext cx="508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Visualization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08960" y="5212080"/>
            <a:ext cx="0" cy="128016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5340096"/>
            <a:ext cx="530352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5413248"/>
            <a:ext cx="508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Interpretation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15087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DEFECT CLASSES (7)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1828800"/>
            <a:ext cx="258318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6208" y="192024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6208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1828800"/>
            <a:ext cx="1668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Through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38260" y="1828800"/>
            <a:ext cx="258318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47988" y="192024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47988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715500" y="1828800"/>
            <a:ext cx="1668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26480" y="2395728"/>
            <a:ext cx="258318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6208" y="248716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36208" y="2487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903720" y="2395728"/>
            <a:ext cx="1668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Fusion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38260" y="2395728"/>
            <a:ext cx="258318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47988" y="248716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47988" y="2487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715500" y="2395728"/>
            <a:ext cx="1668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Weld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126480" y="2962656"/>
            <a:ext cx="258318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6208" y="3054096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36208" y="30540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903720" y="2962656"/>
            <a:ext cx="1668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Spatter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938260" y="2962656"/>
            <a:ext cx="258318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47988" y="3054096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047988" y="30540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715500" y="2962656"/>
            <a:ext cx="1668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Crack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126480" y="3529584"/>
            <a:ext cx="258318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36208" y="3621024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236208" y="3621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6903720" y="3529584"/>
            <a:ext cx="1668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Undercut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126480" y="4233672"/>
            <a:ext cx="5394960" cy="2212848"/>
          </a:xfrm>
          <a:prstGeom prst="roundRect">
            <a:avLst>
              <a:gd name="adj" fmla="val 3306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126480" y="4233672"/>
            <a:ext cx="539496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Dashboard Screenshot Placeholder 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Post-weld inspection result view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MATERIAL INTEGRITY ASSESSMENT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11521440" y="65562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612B33D-CE08-2A42-F585-24AC7A989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4271928"/>
            <a:ext cx="5148072" cy="21331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 DEVELOPMENT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093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Building the weld-defect detection pipeline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 image dataset covering 7 defect classes.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7,165 images used for detection.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annotations for object detection.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YOLO-based object detection architecture.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into training, validation and test sets.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quality was also evaluated during development.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1554480"/>
            <a:ext cx="5394960" cy="475488"/>
          </a:xfrm>
          <a:prstGeom prst="rect">
            <a:avLst/>
          </a:prstGeom>
          <a:solidFill>
            <a:srgbClr val="141C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554480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276588" y="15544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29968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276588" y="202996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2029968"/>
            <a:ext cx="5120640" cy="0"/>
          </a:xfrm>
          <a:prstGeom prst="line">
            <a:avLst/>
          </a:prstGeom>
          <a:noFill/>
          <a:ln w="9525">
            <a:solidFill>
              <a:srgbClr val="2230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505456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276588" y="2505456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2505456"/>
            <a:ext cx="5120640" cy="0"/>
          </a:xfrm>
          <a:prstGeom prst="line">
            <a:avLst/>
          </a:prstGeom>
          <a:noFill/>
          <a:ln w="9525">
            <a:solidFill>
              <a:srgbClr val="2230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2980944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276588" y="2980944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2980944"/>
            <a:ext cx="5120640" cy="0"/>
          </a:xfrm>
          <a:prstGeom prst="line">
            <a:avLst/>
          </a:prstGeom>
          <a:noFill/>
          <a:ln w="9525">
            <a:solidFill>
              <a:srgbClr val="2230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456432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276588" y="3456432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3456432"/>
            <a:ext cx="5120640" cy="0"/>
          </a:xfrm>
          <a:prstGeom prst="line">
            <a:avLst/>
          </a:prstGeom>
          <a:noFill/>
          <a:ln w="9525">
            <a:solidFill>
              <a:srgbClr val="2230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1605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4325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approach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663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was chosen for its ability to jointly localize and classify defects in a single forward pass, enabling near real-time inference suited to a web-based inspection dashboard.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MATERIAL INTEGRITY ASSESSMENT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562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MODEL IMPROVEMENT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093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Identifying and addressing annotation inconsistencies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627632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2121408"/>
            <a:ext cx="0" cy="146304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2267712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340864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834640"/>
            <a:ext cx="0" cy="146304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980944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054096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suspicious Surface Crack annotations identified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3547872"/>
            <a:ext cx="0" cy="146304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3694176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141C2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3767328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 removed from a clean training copy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4261104"/>
            <a:ext cx="0" cy="146304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4407408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4480560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preserved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4974336"/>
            <a:ext cx="0" cy="146304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5120640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5193792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in progress (clean copy)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1554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ANNOTATION REVIEW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1901952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0840" y="2029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03720" y="2377440"/>
            <a:ext cx="1920240" cy="256032"/>
          </a:xfrm>
          <a:prstGeom prst="rect">
            <a:avLst/>
          </a:prstGeom>
          <a:ln w="254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2084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wide,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box — inconsistent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crack geometry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52560" y="2377440"/>
            <a:ext cx="0" cy="1280160"/>
          </a:xfrm>
          <a:prstGeom prst="line">
            <a:avLst/>
          </a:prstGeom>
          <a:noFill/>
          <a:ln w="12700">
            <a:solidFill>
              <a:srgbClr val="2230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81160" y="2029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281160" y="2359152"/>
            <a:ext cx="457200" cy="365760"/>
          </a:xfrm>
          <a:prstGeom prst="rect">
            <a:avLst/>
          </a:prstGeom>
          <a:ln w="25400">
            <a:solidFill>
              <a:srgbClr val="22D3EE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9281160" y="2798064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annotation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the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training copy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92240" y="406908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0" y="4233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57200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annotations can mislead a detection model during training. The original dataset was preserved unchanged, and a separate clean copy — with potentially inconsistent Surface Crack annotations removed — is currently being used for retraining. Final retraining accuracy is not yet available, as training is still in progress.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MATERIAL INTEGRITY ASSESSMENT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562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/ DASHBOARD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093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engineering inspection interface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949440" cy="4526280"/>
          </a:xfrm>
          <a:prstGeom prst="roundRect">
            <a:avLst>
              <a:gd name="adj" fmla="val 1616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Dashboard Screenshot Placeholder 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089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Full-page view of the web-based inspection dashboard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554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SECTIONS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80960" y="195681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82128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0" y="2432304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82128" y="2350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result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80960" y="2907792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82128" y="28254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80960" y="3383280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82128" y="33009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location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80960" y="3858768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82128" y="3776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interpretation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80960" y="4334256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82128" y="4251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root causes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4809744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82128" y="4727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80960" y="5285232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82128" y="5202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requirement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MATERIAL INTEGRITY ASSESSMENT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562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64795B9-5F9F-C6EE-3B73-9B2EBD4F8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91" y="2235487"/>
            <a:ext cx="6887541" cy="3004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INTERPRETATION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093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Converting a raw AI detection into engineering guidance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141C2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8366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“Undercut detected — confidence XX%”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2240280"/>
            <a:ext cx="0" cy="18288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4231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146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INTERPRETATION — POSSIBLE CONTRIBUTING FACTORS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current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0" y="288036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travel speed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88036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electrode / torch angle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288036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 technique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3566160"/>
            <a:ext cx="0" cy="18288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37490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0782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defect dimensions and verify against the applicable welding acceptance criteria.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80760" y="4434840"/>
            <a:ext cx="0" cy="18288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566160" y="4617720"/>
            <a:ext cx="5029200" cy="457200"/>
          </a:xfrm>
          <a:prstGeom prst="roundRect">
            <a:avLst>
              <a:gd name="adj" fmla="val 50000"/>
            </a:avLst>
          </a:prstGeom>
          <a:solidFill>
            <a:srgbClr val="141C2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66160" y="4617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UNCERTAIN → MANUAL INSPECTION / NDT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21208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0F1B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52120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≠ final engineering certification.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MATERIAL INTEGRITY ASSESSMENT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562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— PRE-WELD / IN-PROCESS PREDICTION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0936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Planned second module of the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784080" y="36576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A120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0" y="3657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/ FUTURE WORK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00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 PROCESS PARAMETERS (INPUTS)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158496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938528"/>
            <a:ext cx="136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25040" y="1938528"/>
            <a:ext cx="158496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4768" y="1938528"/>
            <a:ext cx="136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92880" y="1938528"/>
            <a:ext cx="158496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02608" y="1938528"/>
            <a:ext cx="136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Speed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158496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670048"/>
            <a:ext cx="136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 Process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25040" y="2670048"/>
            <a:ext cx="158496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34768" y="2670048"/>
            <a:ext cx="136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Feed Speed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92880" y="2670048"/>
            <a:ext cx="158496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02608" y="2670048"/>
            <a:ext cx="136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 / Electrode Angle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158496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401568"/>
            <a:ext cx="136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25040" y="3401568"/>
            <a:ext cx="158496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34768" y="3401568"/>
            <a:ext cx="136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Thickness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92880" y="3401568"/>
            <a:ext cx="1584960" cy="566928"/>
          </a:xfrm>
          <a:prstGeom prst="roundRect">
            <a:avLst>
              <a:gd name="adj" fmla="val 12903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02608" y="3401568"/>
            <a:ext cx="136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Type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15000" y="3017520"/>
            <a:ext cx="457200" cy="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309360" y="23774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41C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23774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006840" y="3657600"/>
            <a:ext cx="0" cy="274320"/>
          </a:xfrm>
          <a:prstGeom prst="line">
            <a:avLst/>
          </a:prstGeom>
          <a:noFill/>
          <a:ln w="22225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309360" y="4114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OUTPUTS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443484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19088" y="44348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likelihood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98280" y="443484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08008" y="44348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Weld-quality risk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5001768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19088" y="500176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Distortion-related risk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098280" y="5001768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0161D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08008" y="500176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recommendations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53492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41C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53492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is planned future work. It is not yet fully trained or integrated into the current system.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MATERIAL INTEGRITY ASSESSMENT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11521440" y="65562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0161D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96012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829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54680" y="9601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0161D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54680" y="960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96012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829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52160" y="9601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0161D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960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96012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829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49640" y="9601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0161D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640" y="960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286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0604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YOLO performance with cleaned and expanded datasets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weld-image datasets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process-parameter prediction model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geometry / severity analysis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NDT data integration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failure-risk prediction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future hardware / camera systems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platform online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28600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141C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4505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78892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Streamlit-based web dashboard developed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YOLO-based weld defect detection pipeline implemented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annotation quality reviewed; retraining on a cleaned copy in progress</a:t>
            </a:r>
            <a:endParaRPr lang="en-US" sz="1150" dirty="0"/>
          </a:p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9F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Pre-weld / in-process prediction module planned as future work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52578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10161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52578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Defect Detection to Engineering Decision Support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080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 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981</Words>
  <Application>Microsoft Office PowerPoint</Application>
  <PresentationFormat>Widescreen</PresentationFormat>
  <Paragraphs>262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Ragashri A</cp:lastModifiedBy>
  <cp:revision>2</cp:revision>
  <dcterms:created xsi:type="dcterms:W3CDTF">2026-09-23T01:28:12Z</dcterms:created>
  <dcterms:modified xsi:type="dcterms:W3CDTF">2026-09-23T06:26:43Z</dcterms:modified>
</cp:coreProperties>
</file>